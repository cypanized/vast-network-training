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 Data — Network Training  |  Wong Tran</a:t>
            </a:r>
            <a:endParaRPr lang="en-US" sz="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37160"/>
            <a:ext cx="347472" cy="3017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9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 Data — Network Training  |  Wong Tran</a:t>
            </a:r>
            <a:endParaRPr lang="en-US" sz="7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3566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 Data — Network Training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 Data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Training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Networking · Network Design · L2/L3 Topologies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by Wong Tran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0292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9144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CNode Networking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17043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end &amp; backend interfaces, SR-IOV, bond config, VLAN 69, client VIPs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0292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6459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EBox Networking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90195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architecture to CNode — expansion box for additional storage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50292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377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DNode Networking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6334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Backend-only interfaces, no front end NIC, BlueField DPU management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50292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1089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Converged vs Split Design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33649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VAST node NICs connect to the switching fabric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50292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3840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L2/L3 Topologies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409651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(pair), Medium (spine-leaf), Large (EVPN-BGP) deployment patterns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CNode Networking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end &amp; backend interfaces, SR-IOV virtual functions,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A9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 configuration, VLAN 69 sub-interfaces, and client VIPs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CNode — Interface Overview (Dual NIC)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CBox 1U chassis — 4 PCIe buses, 8 physical functions, 2 virtual functions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2103120"/>
          </a:xfrm>
          <a:prstGeom prst="rect">
            <a:avLst/>
          </a:prstGeom>
          <a:solidFill>
            <a:srgbClr val="E6F1FB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6517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88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End Interface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plane — client VIPs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enp65s0f0  ·  enp65s0f1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651760" cy="2103120"/>
          </a:xfrm>
          <a:prstGeom prst="rect">
            <a:avLst/>
          </a:prstGeom>
          <a:solidFill>
            <a:srgbClr val="E0F2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0584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188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Interface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1463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mesh — SR-IOV + bond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29000" y="1828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enp1s0f0  ·  enp1s0f1 (PF)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enp1s0f2  ·  enp1s0f3 (VF)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651760" cy="2103120"/>
          </a:xfrm>
          <a:prstGeom prst="rect">
            <a:avLst/>
          </a:prstGeom>
          <a:solidFill>
            <a:srgbClr val="F7F6F3"/>
          </a:solidFill>
          <a:ln w="19050">
            <a:solidFill>
              <a:srgbClr val="8A898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05840"/>
            <a:ext cx="2651760" cy="54864"/>
          </a:xfrm>
          <a:prstGeom prst="rect">
            <a:avLst/>
          </a:prstGeom>
          <a:solidFill>
            <a:srgbClr val="8A8985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188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89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Gigabit Interface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1463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/ spare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640" y="1828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enp194s0f0 (mgmt)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enp194s0f1, enp193s0f0, enp193s0f1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Variants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6576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NIC + Mgmt via Gigabit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365760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— FE NIC for VIPs, mgmt on enp194s0f0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39136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NIC + Mgmt via Bond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39136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IP on bond0 instead of gigabit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16966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NIC + Mgmt via Gigabit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0" y="416966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FE NIC — VIPs on backend PFs directly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44256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NIC + Mgmt via Bond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83280" y="442569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FE NIC — VIPs on backend PFs, mgmt on bond0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CNode — SR-IOV 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ConnectX-7 dual-port NIC with hardware virtualization for HA failover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Port 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" y="1371600"/>
            <a:ext cx="2286000" cy="4572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enp1s0f0 — PF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874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VF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97280" y="2148840"/>
            <a:ext cx="2286000" cy="45720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enp1s0f2 — VF (SR-IOV)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1005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Port 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0" y="1371600"/>
            <a:ext cx="2286000" cy="4572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enp1s0f1 — PF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1874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VF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0" y="2148840"/>
            <a:ext cx="2286000" cy="45720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0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enp1s0f3 — VF (SR-IOV)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26974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0" y="26974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926080" y="3017520"/>
            <a:ext cx="3108960" cy="457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26080" y="3017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bond0 — active-backup (mode 1)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Details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9319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PFs carry direct VLAN 69 sub-interfaces for low-latency cluster mesh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VFs are bonded (active-backup) for HA failover — 200 Gbps per VF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MII polling interval: 100ms — locally administered MAC addresses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Bond runs on VFs so PFs remain free for direct cluster mesh paths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CNode — VLAN 69 Cluster Mesh Paths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independent paths into VLAN 69 for maximum resilience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65176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A — PF0 Direct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path via Physical Function 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9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21031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enp1s0f0.69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4231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9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IP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606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172.16.1.11/24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9260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9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Subnet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3108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C4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172.16.0.0/18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1005840"/>
            <a:ext cx="265176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005840"/>
            <a:ext cx="265176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1051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B — PF1 Direct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path via Physical Function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19202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9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29000" y="21031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enp1s0f1.69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29000" y="24231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9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IP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29000" y="2606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172.16.2.11/24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29000" y="29260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9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Subnet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29000" y="3108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C4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172.16.64.0/18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1005840"/>
            <a:ext cx="265176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1005840"/>
            <a:ext cx="265176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1051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 Path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6364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 bond path via VF pair (active-backup)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19202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9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63640" y="21031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bond0.69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63640" y="24231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9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IP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63640" y="2606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172.16.3.11/24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63640" y="29260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9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Subnet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63640" y="3108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C4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172.16.128.0/18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3749040"/>
            <a:ext cx="822960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7947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Production uses /18 subnets, not /24. Lab uses /24 with 172.16.{1,2,3}.x addressing for the 3 paths.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CNode — Client VIP Distribution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~74 client VIPs load-balanced across both front-end data plane ports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1463040"/>
          </a:xfrm>
          <a:prstGeom prst="rect">
            <a:avLst/>
          </a:prstGeom>
          <a:solidFill>
            <a:srgbClr val="E6F1FB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IPs on enp65s0f0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0 — Active data plane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560320" cy="1463040"/>
          </a:xfrm>
          <a:prstGeom prst="rect">
            <a:avLst/>
          </a:prstGeom>
          <a:solidFill>
            <a:srgbClr val="E6F1FB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097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29184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IPs on enp65s0f1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21031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1 — Active data plane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560320" cy="1463040"/>
          </a:xfrm>
          <a:prstGeom prst="rect">
            <a:avLst/>
          </a:prstGeom>
          <a:solidFill>
            <a:srgbClr val="F7F6F3"/>
          </a:solidFill>
          <a:ln w="12700">
            <a:solidFill>
              <a:srgbClr val="D3D1C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097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 Subnets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1463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172.200.0.0/16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10.10.0.0/16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192.168.x.0/24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017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VIPs distributed roughly evenly across both data plane ports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Same subnets appear on both ports — VAST load-balances VIP assignments per-port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Multiple IPs per interface via Linux secondary addresses (no VLAN tags in lab)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Production: Customers typically use VLANs to segregate client subnets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L3 routing via upstream switch SVI/IRB interfaces, not L2 segmentation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CNode — Hardware &amp; Bond Status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731520"/>
            <a:ext cx="4206240" cy="30175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7772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lshw -c network -businfo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pci@0000:c1:00.0  enp193s0f0  Intel Corp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12984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pci@0000:c1:00.1  enp193s0f1  Intel Corp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54533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pci@0000:c2:00.0  enp194s0f0  Intel Corp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179222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pci@0000:c2:00.1  enp194s0f1  Intel Corp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203911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pci@0001:01:00.0  enp1s0f0    ConnectX-7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" y="22860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pci@0001:01:00.1  enp1s0f1    ConnectX-7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253288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pci@0001:01:00.2  enp1s0f2    ConnectX-7 VF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11480" y="277977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pci@0001:01:00.3  enp1s0f3    ConnectX-7 VF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302666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pci@0001:41:00.0  enp65s0f0   ConnectX-7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1480" y="32735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pci@0001:41:00.1  enp65s0f1   ConnectX-7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63440" y="731520"/>
            <a:ext cx="4206240" cy="30175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7772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/proc/net/bonding/bond0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051560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Mode: fault-tolerance (active-backup)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00600" y="1261872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Slave: None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00600" y="1472184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 Slave: enp1s0f2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00600" y="1682496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MII Polling: 100 ms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00600" y="1892808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00600" y="2103120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Slave: enp1s0f2 (ACTIVE)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00600" y="2313432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Speed: 200000 Mbps  Duplex: full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00600" y="2523744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MAC: 4a:cb:92:8a:b1:54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00600" y="2734056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00600" y="2944368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Slave: enp1s0f3 (BACKUP)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00600" y="3154680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Speed: 200000 Mbps  Duplex: full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00600" y="3364992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MAC: a2:ae:c4:a3:de:81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74320" y="39319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network devices across 4 PCIe buses  ·  2 VFs bonded at 200 Gbps each  ·  3 VLAN 69 sub-interfaces  ·  ~74 client VIPs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NIC vs Dual NIC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931920" cy="3474720"/>
          </a:xfrm>
          <a:prstGeom prst="rect">
            <a:avLst/>
          </a:prstGeom>
          <a:solidFill>
            <a:srgbClr val="E6F1FB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8686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NIC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End NIC (2 ports)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enp65s0f0, enp65s0f1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Dedicated to client VIPs only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NIC (2 ports + 2 VFs)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enp1s0f0/1 (PF), enp1s0f2/3 (VF)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Cluster mesh via VLAN 69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10 devices, 4 PCIe buses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data plane &amp; cluster mesh paths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822960"/>
            <a:ext cx="3931920" cy="3474720"/>
          </a:xfrm>
          <a:prstGeom prst="rect">
            <a:avLst/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0" y="8686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NIC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37160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Front End NIC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enp65s0f0/1 do not exist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VIPs assigned to backend PFs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NIC (2 ports + 2 VFs)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enp1s0f0/1 carry VIPs + mesh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SR-IOV separates VIP from mesh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8 devices, 3 PCIe buses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NIC — traffic separated via SR-IOV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02–03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EBox &amp; DNode Networking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EBox mirrors CNode architecture  ·  DNode is backend-only (no front end NIC)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DNode — Key Differences from CNode/EBox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DNodes serve storage only — no front end interfaces, no client VIPs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6576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CNode / EBox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DNode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 End NIC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enp65s0f0 / enp65s0f1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ConnectX-7 (client VIPs)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DNodes have no front end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 NIC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enp1s0f0 / enp1s0f1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VFs enp1s0f2/3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enp3s0f0 / enp3s0f1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VFs enp3s0f2/3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Gigabit Mgmt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enp194s0f0 (direct IP)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10.143.11.204/16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enp9s0 + VLAN sub-ifs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VLAN 70/71/99 + tmfifo_net0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VLAN 69 IPs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172.16.{1,2,3}.11/24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172.16.{1,2,3}.112/24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BlueField DPU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89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tmfifo_net0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169.254.102.2/30 (BMC access)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Chassis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CBox/EBox 1U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DBox — 2 DNodes per box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solidFill>
            <a:srgbClr val="E0F2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3977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DNode uses BlueField DPU with tmfifo_net0 for out-of-band BMC management at 169.254.102.2/30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Converged vs Split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VAST node NICs connect to the switching fabric 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A9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foundation of your network design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Design Options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777240"/>
            <a:ext cx="27432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777240"/>
            <a:ext cx="27432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144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NIC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828800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Cisco EBox Only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9659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&amp; backend NICs both connect to the same VAST leaf pair. Customer switches uplink to VAST leafs.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8346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3017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switches · Simpler cabling · Lower cost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35204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Considerations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37033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bandwidth · Switch failure impacts both traffic types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777240"/>
            <a:ext cx="27432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77724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9144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NIC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0" y="1554480"/>
            <a:ext cx="182880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0" y="1554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CBox / EBox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37560" y="19659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NIC only — VIPs &amp; cluster mesh share one NIC via SR-IOV. PF carries mesh, VF carries VIPs.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28346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3017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hardware · No frontend NIC needed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37560" y="35204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Considerations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37560" y="37033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traffic on one NIC · Requires SR-IOV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777240"/>
            <a:ext cx="27432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777240"/>
            <a:ext cx="274320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9144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583680" y="1554480"/>
            <a:ext cx="1828800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1554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Platforms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63640" y="19659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domains: Frontend NIC → customer switches (VIPs), Backend NIC → VAST leaf pair (cluster mesh).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28346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63640" y="3017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isolation · Independent failure domains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63640" y="35204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Considerations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63640" y="37033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switches · Complex cabling · Higher cost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Converged — Dual NIC Topology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0" y="182880"/>
            <a:ext cx="1828800" cy="27432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182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Cisco EBox Only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0" y="640080"/>
            <a:ext cx="2286000" cy="457200"/>
          </a:xfrm>
          <a:prstGeom prst="rect">
            <a:avLst/>
          </a:prstGeom>
          <a:solidFill>
            <a:srgbClr val="F7F6F3"/>
          </a:solidFill>
          <a:ln w="19050">
            <a:solidFill>
              <a:srgbClr val="D3D1C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640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Servers (NFS/SMB/S3)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463040"/>
            <a:ext cx="2286000" cy="45720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SW-1 (MLAG)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0" y="1463040"/>
            <a:ext cx="2286000" cy="45720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0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SW-2 (MLAG)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286000"/>
            <a:ext cx="74066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3200400" y="22402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 Switching Domain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914400" y="2468880"/>
            <a:ext cx="2286000" cy="457200"/>
          </a:xfrm>
          <a:prstGeom prst="rect">
            <a:avLst/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 Leaf-1 (MLAG)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0" y="2468880"/>
            <a:ext cx="2286000" cy="457200"/>
          </a:xfrm>
          <a:prstGeom prst="rect">
            <a:avLst/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 Leaf-2 (MLAG)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0" y="3474720"/>
            <a:ext cx="6858000" cy="777240"/>
          </a:xfrm>
          <a:prstGeom prst="rect">
            <a:avLst/>
          </a:prstGeom>
          <a:solidFill>
            <a:srgbClr val="E6F1FB"/>
          </a:solidFill>
          <a:ln w="19050">
            <a:solidFill>
              <a:srgbClr val="0C447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34747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 Server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188720" y="3794760"/>
            <a:ext cx="2560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3794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NIC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37760" y="3794760"/>
            <a:ext cx="2560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794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NIC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0" y="11430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VIPs ↓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286000" y="205740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9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uplinks (cross-connected)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88720" y="32461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 traffic ↑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37760" y="32461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mesh ↑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Converged — Single NIC Topology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NIC only — SR-IOV separates VIP from mesh traffic on the same NIC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0" y="914400"/>
            <a:ext cx="2286000" cy="457200"/>
          </a:xfrm>
          <a:prstGeom prst="rect">
            <a:avLst/>
          </a:prstGeom>
          <a:solidFill>
            <a:srgbClr val="F7F6F3"/>
          </a:solidFill>
          <a:ln w="19050">
            <a:solidFill>
              <a:srgbClr val="D3D1C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0" y="914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Servers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2286000" cy="45720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SW-1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2286000" cy="45720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SW-2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560320"/>
            <a:ext cx="74066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3200400" y="25146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 Switching Domain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14400" y="2743200"/>
            <a:ext cx="2286000" cy="457200"/>
          </a:xfrm>
          <a:prstGeom prst="rect">
            <a:avLst/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 Leaf-1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0" y="2743200"/>
            <a:ext cx="2286000" cy="457200"/>
          </a:xfrm>
          <a:prstGeom prst="rect">
            <a:avLst/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 Leaf-2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71600" y="3657600"/>
            <a:ext cx="5943600" cy="731520"/>
          </a:xfrm>
          <a:prstGeom prst="rect">
            <a:avLst/>
          </a:prstGeom>
          <a:solidFill>
            <a:srgbClr val="E6F1FB"/>
          </a:solidFill>
          <a:ln w="19050">
            <a:solidFill>
              <a:srgbClr val="0C447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371600" y="3657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 Server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0" y="3977640"/>
            <a:ext cx="411480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3977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NIC — VIPs (via SR-IOV VF) + Cluster Mesh (PF)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0" y="3657600"/>
            <a:ext cx="2011680" cy="73152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3703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SR-IOV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 → Cluster mesh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VF → Client VIPs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Topology — Separate Domains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switching domains for VIP traffic and cluster mesh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40080" y="896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Domain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0" y="1097280"/>
            <a:ext cx="2286000" cy="411480"/>
          </a:xfrm>
          <a:prstGeom prst="rect">
            <a:avLst/>
          </a:prstGeom>
          <a:solidFill>
            <a:srgbClr val="F7F6F3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097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Servers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88720" y="1737360"/>
            <a:ext cx="2011680" cy="41148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737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SW-1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0" y="1737360"/>
            <a:ext cx="2011680" cy="41148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1737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SW-2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188720" y="2468880"/>
            <a:ext cx="6400800" cy="731520"/>
          </a:xfrm>
          <a:prstGeom prst="rect">
            <a:avLst/>
          </a:prstGeom>
          <a:solidFill>
            <a:srgbClr val="E6F1FB"/>
          </a:solidFill>
          <a:ln w="19050">
            <a:solidFill>
              <a:srgbClr val="0C447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88720" y="2468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 Server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63040" y="2743200"/>
            <a:ext cx="22860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NIC → VIPs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0" y="2743200"/>
            <a:ext cx="22860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NIC → Mesh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82296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40080" y="34107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 Backend Domain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188720" y="3657600"/>
            <a:ext cx="2011680" cy="41148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3657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 Leaf-1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0" y="3657600"/>
            <a:ext cx="2011680" cy="41148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3657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 Leaf-2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switching domains — independent failure, dedicated bandwidth per traffic type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/ L3 Topologies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VAST Data fabric patterns — Small (pair), Medium (spine-leaf), Large (EVPN-BGP)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Size Categories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640080" cy="64008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822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280160" y="822960"/>
            <a:ext cx="740664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63040" y="86868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 —  L2 — Pair Switches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188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MLAG switch pair without a spine layer. Cluster won't exceed port count of a single leaf pair.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0" y="1188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VAST switches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640080" cy="64008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280160" y="2103120"/>
            <a:ext cx="740664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463040" y="214884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 —  L2 — Spine-Leaf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468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Spine-leaf fabric with MLAG. Cluster won't exceed port count of the spine pair. Full mesh leaf↔spine.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0" y="2468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Spines + 4 Leaves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640080" cy="6400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1280160" y="3383280"/>
            <a:ext cx="740664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463040" y="34290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 —  L3 — EVPN-BGP (VXLAN)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3749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BGP underlay + VXLAN overlay for 100+ node clusters. 3 spines for odd-number quorum. Scalable.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3749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Spines + N Leaves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0233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size supports two uplink modes: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251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</a:t>
            </a:r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VAST fabric not connected to customer network (Split design)          </a:t>
            </a:r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</a:t>
            </a:r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VAST spines/leafs cross-connect to customer switches (Converged)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— Pair Switches (L2)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777240"/>
            <a:ext cx="420624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7772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(Split)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88720" y="1280160"/>
            <a:ext cx="2377440" cy="36576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MLAG Pair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88720" y="2011680"/>
            <a:ext cx="2377440" cy="365760"/>
          </a:xfrm>
          <a:prstGeom prst="rect">
            <a:avLst/>
          </a:prstGeom>
          <a:solidFill>
            <a:srgbClr val="E6F1FB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 MLAG Pair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3291840" cy="457200"/>
          </a:xfrm>
          <a:prstGeom prst="rect">
            <a:avLst/>
          </a:prstGeom>
          <a:solidFill>
            <a:srgbClr val="E6F1F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51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 EBox / CBox servers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32918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 NIC → Customer switches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NIC → VAST MLAG pair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cross-connect between domains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777240"/>
            <a:ext cx="420624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7772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(Converged)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577840" y="1280160"/>
            <a:ext cx="2377440" cy="36576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MLAG Pair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77840" y="16916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 cross-connect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577840" y="2011680"/>
            <a:ext cx="2377440" cy="365760"/>
          </a:xfrm>
          <a:prstGeom prst="rect">
            <a:avLst/>
          </a:prstGeom>
          <a:solidFill>
            <a:srgbClr val="E6F1FB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 MLAG Pair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120640" y="2651760"/>
            <a:ext cx="3291840" cy="457200"/>
          </a:xfrm>
          <a:prstGeom prst="rect">
            <a:avLst/>
          </a:prstGeom>
          <a:solidFill>
            <a:srgbClr val="E6F1F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2651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 EBox / CBox servers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32918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NICs → VAST MLAG pair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SWs uplink to VAST pair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Simpler, fewer switches overall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&amp; Large Topologies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731520"/>
            <a:ext cx="420624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731520"/>
            <a:ext cx="42062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— L2 Spine-Leaf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 Spine switches + 4 Leaf switches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mesh: each leaf uplinks to both spines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MLAG active-active forwarding with ISL failover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Servers dual-home to both switches in each leaf pair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Isolated: fabric not connected to customer network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Connected: spines cross-connect to customer MLAG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731520"/>
            <a:ext cx="420624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731520"/>
            <a:ext cx="420624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822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— L3 EVPN-BGP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18872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 Spine switches (odd-number quorum)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BGP underlay + VXLAN overlay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mesh: each leaf peers with all 3 spines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Scalable to 100+ nodes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Isolated: completely separate from customer fabric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Connected: 6 BGP sessions (3 spines × 2 customer SWs)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Scenarios &amp; Redundancy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3383280"/>
            <a:ext cx="201168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383280"/>
            <a:ext cx="20116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474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Fails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749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MLAG partner takes over all forwarding. Servers dual-homed to both — retain connectivity.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468880" y="3383280"/>
            <a:ext cx="201168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68880" y="3383280"/>
            <a:ext cx="20116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2560320" y="3474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Spine Fails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0" y="3749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spine(s) carry full load. Leaf-to-leaf still reachable via surviving spines.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63440" y="3383280"/>
            <a:ext cx="201168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383280"/>
            <a:ext cx="20116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3474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Cable Fails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3749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retains connectivity via other NIC to partner switch. MLAG handles re-routing.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858000" y="3383280"/>
            <a:ext cx="201168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0" y="3383280"/>
            <a:ext cx="20116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0" y="3474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NIC Fails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49440" y="3749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 failover to backup VF. Active-backup mode 1 switches within 100ms MII polling.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Mapping Summary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Converged/Split designs map to L2/L3 topology uplink modes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246888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 Design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Uplink Mode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Topology Sizes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 Support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Split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Isolated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 · Medium · Large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platforms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Converged — Dual NIC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 · Medium · Large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Cisco EBox only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Converged — Single NIC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 · Medium · Large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CBox · EBox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3154680"/>
            <a:ext cx="109728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10896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(Isolated) provides maximum traffic isolation — separate switching domains for VIP and cluster mesh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3410712"/>
            <a:ext cx="109728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336499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Converged (Connected) reduces switch count and cabling complexity — both traffic types share VAST leaf pair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3666744"/>
            <a:ext cx="109728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362102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SR-IOV enables Single NIC converged — PF carries cluster mesh, VF carries client VIPs with bond failover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3922776"/>
            <a:ext cx="109728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387705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69 provides 3 independent cluster mesh paths (PF0 direct, PF1 direct, bond) for resilience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4178808"/>
            <a:ext cx="109728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413308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topologies support MLAG active-active forwarding with ISL failover for high availability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4434840"/>
            <a:ext cx="109728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438912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uses /18 subnets for VLAN 69 addressing — lab environments use /24 for simplicity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 Data — Network Training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Networking  ·  Converged vs Split  ·  L2/L3 Topologies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9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by Wong Tran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VAST Data — Network Training</dc:title>
  <dc:subject>PptxGenJS Presentation</dc:subject>
  <dc:creator>Wong Tran</dc:creator>
  <cp:lastModifiedBy>Wong Tran</cp:lastModifiedBy>
  <cp:revision>1</cp:revision>
  <dcterms:created xsi:type="dcterms:W3CDTF">2026-03-31T08:39:44Z</dcterms:created>
  <dcterms:modified xsi:type="dcterms:W3CDTF">2026-03-31T08:39:44Z</dcterms:modified>
</cp:coreProperties>
</file>